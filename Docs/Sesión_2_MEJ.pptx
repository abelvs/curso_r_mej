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7" r:id="rId4"/>
    <p:sldId id="268" r:id="rId5"/>
    <p:sldId id="269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24/01/2026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24/01/2026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24/01/2026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24/01/2026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24/01/2026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24/01/2026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24/01/2026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24/01/2026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24/01/2026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24/01/2026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24/01/2026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24/01/2026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Introducción a R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>
                <a:solidFill>
                  <a:schemeClr val="bg2"/>
                </a:solidFill>
                <a:latin typeface="Consolas" panose="020B0609020204030204" pitchFamily="49" charset="0"/>
              </a:rPr>
              <a:t>Sesión 2</a:t>
            </a:r>
            <a:endParaRPr lang="es-MX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Objetivos del día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14475"/>
            <a:ext cx="10229850" cy="5172075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Recap</a:t>
            </a:r>
            <a:endParaRPr lang="es-MX" sz="2000" b="1" dirty="0" smtClean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Entorno, paquetes y </a:t>
            </a:r>
            <a:r>
              <a:rPr lang="es-MX" sz="1800" dirty="0" err="1" smtClean="0">
                <a:latin typeface="Consolas" panose="020B0609020204030204" pitchFamily="49" charset="0"/>
              </a:rPr>
              <a:t>filter</a:t>
            </a:r>
            <a:r>
              <a:rPr lang="es-MX" sz="1800" dirty="0" smtClean="0">
                <a:latin typeface="Consolas" panose="020B0609020204030204" pitchFamily="49" charset="0"/>
              </a:rPr>
              <a:t>()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Operaciones con valores </a:t>
            </a:r>
            <a:r>
              <a:rPr lang="es-MX" sz="2000" b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string</a:t>
            </a: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 y numéricos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Capitalización y acentos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Concatenado básico</a:t>
            </a: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Paddings</a:t>
            </a:r>
            <a:r>
              <a:rPr lang="es-MX" sz="1800" dirty="0" smtClean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Objetos y operaciones básicas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i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endParaRPr lang="es-MX" sz="2000" b="1" i="1" dirty="0" smtClean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Carga de datos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Limpieza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Manipulación</a:t>
            </a:r>
          </a:p>
          <a:p>
            <a:pPr lvl="2"/>
            <a:r>
              <a:rPr lang="es-MX" sz="1600" dirty="0" smtClean="0">
                <a:latin typeface="Consolas" panose="020B0609020204030204" pitchFamily="49" charset="0"/>
              </a:rPr>
              <a:t>Operaciones numéricas</a:t>
            </a:r>
          </a:p>
          <a:p>
            <a:pPr lvl="2"/>
            <a:r>
              <a:rPr lang="es-MX" sz="1600" dirty="0" smtClean="0">
                <a:latin typeface="Consolas" panose="020B0609020204030204" pitchFamily="49" charset="0"/>
              </a:rPr>
              <a:t>Operaciones con </a:t>
            </a:r>
            <a:r>
              <a:rPr lang="es-MX" sz="1600" i="1" dirty="0" err="1" smtClean="0">
                <a:latin typeface="Consolas" panose="020B0609020204030204" pitchFamily="49" charset="0"/>
              </a:rPr>
              <a:t>strings</a:t>
            </a:r>
            <a:endParaRPr lang="es-MX" sz="1600" i="1" dirty="0" smtClean="0">
              <a:latin typeface="Consolas" panose="020B0609020204030204" pitchFamily="49" charset="0"/>
            </a:endParaRPr>
          </a:p>
          <a:p>
            <a:pPr lvl="2"/>
            <a:r>
              <a:rPr lang="es-MX" sz="1600" dirty="0" smtClean="0">
                <a:latin typeface="Consolas" panose="020B0609020204030204" pitchFamily="49" charset="0"/>
              </a:rPr>
              <a:t>Agrupado y colapsado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Exportado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Flujo de trabajo completo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Diseño de </a:t>
            </a:r>
            <a:r>
              <a:rPr lang="es-MX" sz="1800" i="1" dirty="0">
                <a:latin typeface="Consolas" panose="020B0609020204030204" pitchFamily="49" charset="0"/>
              </a:rPr>
              <a:t>pipeline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Reproductibilidad</a:t>
            </a:r>
          </a:p>
          <a:p>
            <a:pPr marL="514350" indent="-514350">
              <a:buFont typeface="+mj-lt"/>
              <a:buAutoNum type="arabicPeriod"/>
            </a:pPr>
            <a:endParaRPr lang="es-MX" sz="16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MX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b="31536"/>
          <a:stretch/>
        </p:blipFill>
        <p:spPr>
          <a:xfrm rot="191927" flipH="1">
            <a:off x="8639174" y="3370954"/>
            <a:ext cx="3304033" cy="3639445"/>
          </a:xfrm>
          <a:prstGeom prst="rtTriangle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305551" y="3449955"/>
            <a:ext cx="3848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sesión, serás capaz de crear un pipeline básico en R que transforme datos brutos en una base lista para análisis.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 smtClean="0">
                <a:latin typeface="Consolas" panose="020B0609020204030204" pitchFamily="49" charset="0"/>
              </a:rPr>
              <a:t>Juntándolo todo: Flujo de trabajo real</a:t>
            </a:r>
            <a:endParaRPr lang="es-MX" sz="36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</p:spPr>
        <p:txBody>
          <a:bodyPr>
            <a:normAutofit/>
          </a:bodyPr>
          <a:lstStyle/>
          <a:p>
            <a:r>
              <a:rPr lang="es-MX" i="1" dirty="0" err="1" smtClean="0">
                <a:latin typeface="Consolas" panose="020B0609020204030204" pitchFamily="49" charset="0"/>
              </a:rPr>
              <a:t>Recap</a:t>
            </a:r>
            <a:r>
              <a:rPr lang="es-MX" dirty="0" smtClean="0">
                <a:latin typeface="Consolas" panose="020B0609020204030204" pitchFamily="49" charset="0"/>
              </a:rPr>
              <a:t>: </a:t>
            </a:r>
          </a:p>
          <a:p>
            <a:pPr lvl="1"/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Cargamos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s-MX" dirty="0" smtClean="0">
                <a:latin typeface="Consolas" panose="020B0609020204030204" pitchFamily="49" charset="0"/>
              </a:rPr>
              <a:t>la base de remuneraciones</a:t>
            </a:r>
          </a:p>
          <a:p>
            <a:pPr lvl="1"/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Transformamos</a:t>
            </a:r>
            <a:r>
              <a:rPr lang="es-MX" dirty="0" smtClean="0">
                <a:latin typeface="Consolas" panose="020B0609020204030204" pitchFamily="49" charset="0"/>
              </a:rPr>
              <a:t> y </a:t>
            </a:r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codificamos</a:t>
            </a:r>
            <a:r>
              <a:rPr lang="es-MX" dirty="0" smtClean="0">
                <a:latin typeface="Consolas" panose="020B0609020204030204" pitchFamily="49" charset="0"/>
              </a:rPr>
              <a:t> columnas de nombre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Generamos columnas </a:t>
            </a:r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condicionales</a:t>
            </a:r>
            <a:r>
              <a:rPr lang="es-MX" dirty="0" smtClean="0">
                <a:latin typeface="Consolas" panose="020B0609020204030204" pitchFamily="49" charset="0"/>
              </a:rPr>
              <a:t> al nivel salarial</a:t>
            </a:r>
          </a:p>
          <a:p>
            <a:pPr lvl="1"/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Creamos</a:t>
            </a:r>
            <a:r>
              <a:rPr lang="es-MX" dirty="0" smtClean="0">
                <a:latin typeface="Consolas" panose="020B0609020204030204" pitchFamily="49" charset="0"/>
              </a:rPr>
              <a:t> tabla agregada a nivel alcaldía.</a:t>
            </a:r>
          </a:p>
          <a:p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¿Cómo convertimos ese proceso en un flujo ágil y replicable?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Exploración != pipeline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Consistencia de entradas y salidas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Economizar memoria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Balance minimalismo-legibilidad</a:t>
            </a:r>
            <a:endParaRPr lang="es-MX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76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9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 smtClean="0">
                <a:latin typeface="Consolas" panose="020B0609020204030204" pitchFamily="49" charset="0"/>
              </a:rPr>
              <a:t>Ejercicio</a:t>
            </a:r>
            <a:endParaRPr lang="es-MX" sz="36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  <a:solidFill>
            <a:srgbClr val="038DD6"/>
          </a:solidFill>
        </p:spPr>
        <p:txBody>
          <a:bodyPr>
            <a:normAutofit lnSpcReduction="10000"/>
          </a:bodyPr>
          <a:lstStyle/>
          <a:p>
            <a:r>
              <a:rPr lang="es-MX" sz="18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En 2021, el Gobierno de la Ciudad de México implementó un programa emergente de apoyo a comerciantes de alimentos preparados en vía pública por el contexto de la pandemia de Covid-19. El apoyo consistió en un pago único de $3,000 para solventar gastos durante el periodo suspensión temporal de actividades. </a:t>
            </a:r>
          </a:p>
          <a:p>
            <a:r>
              <a:rPr lang="es-MX" sz="18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Nos interesa indagar sobre la dispersión territorial de los apoyos a nivel alcaldía. Igualmente buscamos desagregar el análisis en grupos de edad y por sexo.</a:t>
            </a:r>
          </a:p>
          <a:p>
            <a:r>
              <a:rPr lang="es-MX" sz="18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Instrucciones:</a:t>
            </a:r>
          </a:p>
          <a:p>
            <a:pPr lvl="1"/>
            <a:r>
              <a:rPr lang="es-MX" sz="17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Generar un script en R con un pipeline que ejecute las siguientes tareas:</a:t>
            </a:r>
          </a:p>
          <a:p>
            <a:pPr lvl="2"/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Crear una columna de nombre completo de la persona beneficiaria con mayúsculas y minúsculas.</a:t>
            </a:r>
          </a:p>
          <a:p>
            <a:pPr lvl="2"/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Crear un indicador dicotómico que  señale si la persona recibió o no su dispersión (véase columna “status”)</a:t>
            </a:r>
          </a:p>
          <a:p>
            <a:pPr lvl="2"/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Crear una columna de rango de edad que agrupe a los beneficiarios en </a:t>
            </a:r>
            <a:r>
              <a:rPr lang="es-MX" sz="1600" i="1" dirty="0" err="1" smtClean="0">
                <a:solidFill>
                  <a:schemeClr val="bg2"/>
                </a:solidFill>
                <a:latin typeface="Consolas" panose="020B0609020204030204" pitchFamily="49" charset="0"/>
              </a:rPr>
              <a:t>bins</a:t>
            </a:r>
            <a:r>
              <a:rPr lang="es-MX" sz="1600" i="1" dirty="0" smtClean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consistentes con la distribución de la columna “edad” (</a:t>
            </a:r>
            <a:r>
              <a:rPr lang="es-MX" sz="1600" dirty="0" err="1" smtClean="0">
                <a:solidFill>
                  <a:schemeClr val="bg2"/>
                </a:solidFill>
                <a:latin typeface="Consolas" panose="020B0609020204030204" pitchFamily="49" charset="0"/>
              </a:rPr>
              <a:t>case_when</a:t>
            </a:r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()).</a:t>
            </a:r>
          </a:p>
          <a:p>
            <a:pPr lvl="2"/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Crear una tabla resumen que sume (sum()) el monto total dispersado a nivel alcaldía.</a:t>
            </a:r>
          </a:p>
          <a:p>
            <a:pPr lvl="2"/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Exportar la base limpia con las columnas generadas (eliminando columnas redundantes) y la tabla resumen a dos archivos Excel en la carpeta </a:t>
            </a:r>
            <a:r>
              <a:rPr lang="es-MX" sz="1600" i="1" dirty="0" smtClean="0">
                <a:solidFill>
                  <a:schemeClr val="bg2"/>
                </a:solidFill>
                <a:latin typeface="Consolas" panose="020B0609020204030204" pitchFamily="49" charset="0"/>
              </a:rPr>
              <a:t>Outputs</a:t>
            </a:r>
          </a:p>
          <a:p>
            <a:pPr lvl="2"/>
            <a:r>
              <a:rPr lang="es-MX" sz="1600" b="1" dirty="0" smtClean="0">
                <a:solidFill>
                  <a:schemeClr val="accent4"/>
                </a:solidFill>
                <a:latin typeface="Consolas" panose="020B0609020204030204" pitchFamily="49" charset="0"/>
              </a:rPr>
              <a:t>EXTRA: Desagregar la tabla resumen por sexo y grupos de edad (debe seguir conteniendo una fila por alcaldía).</a:t>
            </a:r>
            <a:endParaRPr lang="es-MX" sz="1600" b="1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endParaRPr lang="es-MX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61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360</Words>
  <Application>Microsoft Office PowerPoint</Application>
  <PresentationFormat>Panorámica</PresentationFormat>
  <Paragraphs>44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Tema de Office</vt:lpstr>
      <vt:lpstr>Introducción a R</vt:lpstr>
      <vt:lpstr>Objetivos del día</vt:lpstr>
      <vt:lpstr>Juntándolo todo: Flujo de trabajo real</vt:lpstr>
      <vt:lpstr>Presentación de PowerPoint</vt:lpstr>
      <vt:lpstr>Ejercicio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user</cp:lastModifiedBy>
  <cp:revision>31</cp:revision>
  <dcterms:created xsi:type="dcterms:W3CDTF">2025-12-13T08:20:06Z</dcterms:created>
  <dcterms:modified xsi:type="dcterms:W3CDTF">2026-01-24T15:07:00Z</dcterms:modified>
</cp:coreProperties>
</file>